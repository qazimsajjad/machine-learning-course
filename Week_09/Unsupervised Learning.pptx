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ink/ink1.xml" ContentType="application/inkml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notesMasterIdLst>
    <p:notesMasterId r:id="rId16"/>
  </p:notesMasterIdLst>
  <p:sldIdLst>
    <p:sldId id="289" r:id="rId2"/>
    <p:sldId id="341" r:id="rId3"/>
    <p:sldId id="342" r:id="rId4"/>
    <p:sldId id="343" r:id="rId5"/>
    <p:sldId id="335" r:id="rId6"/>
    <p:sldId id="303" r:id="rId7"/>
    <p:sldId id="304" r:id="rId8"/>
    <p:sldId id="340" r:id="rId9"/>
    <p:sldId id="336" r:id="rId10"/>
    <p:sldId id="295" r:id="rId11"/>
    <p:sldId id="296" r:id="rId12"/>
    <p:sldId id="298" r:id="rId13"/>
    <p:sldId id="301" r:id="rId14"/>
    <p:sldId id="28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7" autoAdjust="0"/>
    <p:restoredTop sz="85298" autoAdjust="0"/>
  </p:normalViewPr>
  <p:slideViewPr>
    <p:cSldViewPr snapToGrid="0">
      <p:cViewPr varScale="1">
        <p:scale>
          <a:sx n="91" d="100"/>
          <a:sy n="91" d="100"/>
        </p:scale>
        <p:origin x="1092" y="6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8.3333333333333297E-3"/>
          <c:y val="7.39074803149606E-3"/>
          <c:w val="0.874951007286075"/>
          <c:h val="0.93323425196850396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26"/>
          <c:dPt>
            <c:idx val="0"/>
            <c:bubble3D val="0"/>
            <c:explosion val="13"/>
            <c:extLst>
              <c:ext xmlns:c16="http://schemas.microsoft.com/office/drawing/2014/chart" uri="{C3380CC4-5D6E-409C-BE32-E72D297353CC}">
                <c16:uniqueId val="{00000001-31AD-41F6-AE8E-8D753F0872F3}"/>
              </c:ext>
            </c:extLst>
          </c:dPt>
          <c:dPt>
            <c:idx val="1"/>
            <c:bubble3D val="0"/>
            <c:explosion val="20"/>
            <c:extLst>
              <c:ext xmlns:c16="http://schemas.microsoft.com/office/drawing/2014/chart" uri="{C3380CC4-5D6E-409C-BE32-E72D297353CC}">
                <c16:uniqueId val="{00000003-31AD-41F6-AE8E-8D753F0872F3}"/>
              </c:ext>
            </c:extLst>
          </c:dPt>
          <c:dPt>
            <c:idx val="2"/>
            <c:bubble3D val="0"/>
            <c:explosion val="11"/>
            <c:extLst>
              <c:ext xmlns:c16="http://schemas.microsoft.com/office/drawing/2014/chart" uri="{C3380CC4-5D6E-409C-BE32-E72D297353CC}">
                <c16:uniqueId val="{00000005-31AD-41F6-AE8E-8D753F0872F3}"/>
              </c:ext>
            </c:extLst>
          </c:dPt>
          <c:cat>
            <c:strRef>
              <c:f>Sheet1!$A$2:$A$5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2.6</c:v>
                </c:pt>
                <c:pt idx="1">
                  <c:v>8.2000000000000011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1AD-41F6-AE8E-8D753F0872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4:55.544"/>
    </inkml:context>
    <inkml:brush xml:id="br0">
      <inkml:brushProperty name="width" value="0.05292" units="cm"/>
      <inkml:brushProperty name="height" value="0.05292" units="cm"/>
      <inkml:brushProperty name="color" value="#0000FF"/>
    </inkml:brush>
  </inkml:definitions>
  <inkml:traceGroup>
    <inkml:annotationXML>
      <emma:emma xmlns:emma="http://www.w3.org/2003/04/emma" version="1.0">
        <emma:interpretation id="{392B8366-E587-4106-BA4B-29A636B88B94}" emma:medium="tactile" emma:mode="ink">
          <msink:context xmlns:msink="http://schemas.microsoft.com/ink/2010/main" type="inkDrawing" rotatedBoundingBox="12913,5824 20125,11729 20009,11870 12798,5965" semanticType="callout" shapeName="Other"/>
        </emma:interpretation>
      </emma:emma>
    </inkml:annotationXML>
    <inkml:trace contextRef="#ctx0" brushRef="#br0">9694 4371 7238,'-28'29'1282,"28"-29"415,0 0-544,0 0-224,0 0 128,0 0-128,0 0-256,0 0 31,0 28 65,28-28-224,-28 0-257,0 0 0,26 29-128,-26 0 64,24-29 33,-24 28-1,26 0 64,2 0-31,-28 1 95,26-29-192,1 29 0,-27-1-128,25 28 96,27-26-224,-25-2 161,24 29-97,2 0 96,0-1-128,24 2 160,1 0-64,2 27 160,25 1-320,-1-30 160,27 30-128,-25 29 160,25-29-64,-1 26 128,1 2 160,24 1-191,2-2 63,2 29-96,-2 2 96,27-30-64,-2 28 128,2 29-31,-2-29-97,2 29 160,25 1-32,-27-2 0,30-28-31,-4 29 31,-23 1-32,23-1-32,3-29-192,-3 30 193,0-3-33,4 2 32,-5-28 32,-23 28-128,24-28 32,4-1 0,-56 0 33,26 1-65,-24-29-32,-27 28 0,-1-56-96,-25 30 64,2-30-96,-30-31 256,1 1-384,-25 3 0,-27-32-353,1 1-544,-27 1-1089,0-29-3299</inkml:trace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25399" units="in"/>
          <inkml:channel name="F" type="integer" max="32767" units="dev"/>
        </inkml:traceFormat>
        <inkml:channelProperties>
          <inkml:channelProperty channel="X" name="resolution" value="4096.38672" units="1/in"/>
          <inkml:channelProperty channel="Y" name="resolution" value="5080.81592" units="1/in"/>
          <inkml:channelProperty channel="F" name="resolution" value="0" units="1/dev"/>
        </inkml:channelProperties>
      </inkml:inkSource>
      <inkml:timestamp xml:id="ts0" timeString="2011-11-20T18:56:07.431"/>
    </inkml:context>
    <inkml:brush xml:id="br0">
      <inkml:brushProperty name="width" value="0.05292" units="cm"/>
      <inkml:brushProperty name="height" value="0.05292" units="cm"/>
      <inkml:brushProperty name="color" value="#00FF00"/>
    </inkml:brush>
    <inkml:brush xml:id="br1">
      <inkml:brushProperty name="width" value="0.05292" units="cm"/>
      <inkml:brushProperty name="height" value="0.05292" units="cm"/>
      <inkml:brushProperty name="color" value="#0000FF"/>
    </inkml:brush>
  </inkml:definitions>
  <inkml:trace contextRef="#ctx0" brushRef="#br0">12049 7484 1409,'0'0'1954,"0"0"128,0 0 384,-27 0-544,27-25-193,0 25-479,0 0-354,0 0-223,0 0-64,0-27-193,0 27 33,-27 0 63,27-28-128,0 28-63,-26 0-1,26-25-64,-27 25 32,2-27-31,-2 1-1,-26 26 0,26-26-96,-25-2 33,25 2-193,-27 0 256,3-2-128,24 3 64,-27-2-32,2 1 161,-2-1-225,2 0 32,-1 27-224,0-26 96,1 26 0,-28-27 32,1 27-128,24 0 192,5 0-64,-32-25 32,30 25-32,-1 0-64,0 0 32,1 25-96,-28-25 96,28 27 0,-3-27 0,4 26-64,-30 1 32,29 0 0,-1-1 0,-1 26-65,-24-24-31,24 24 32,26-24-64,-22 24 64,-5-25 96,28-2-64,-25 3 96,26 24-96,-1-25 160,-25 26-224,25-26 128,1 25-64,-1 1-64,0 1 128,2-1-96,-2 0 160,1-27-192,26 27 160,-27 0-32,0 1 128,2-2-224,-2 1 32,27-26 64,-26 26 96,26-1-192,-27 1 96,27 1 64,-28-1-32,28 0-64,-24-1 64,24 2-64,0-2 32,-27 28 32,-1-27-32,28-1-96,-26 28 224,26-28-224,-27 28 128,3-27 0,24 1 32,-28-1-32,28 26-32,-27-26 32,27 27-32,0-1 0,0-26 32,0 27-96,0-28 160,0 28 0,0-27 32,27 27-256,1-28 224,-28 28-64,24-28-32,-24 28 0,27-26 64,-1-1-32,-26 26-64,28-26 96,-1-1-64,-3 29 32,4-29-64,-1 2 128,-1-1-224,1-1 224,25 1-128,-25 1 0,-1-1 64,1-1-64,25 1 32,-25-26 32,-1 25-64,26 1 32,-25 1-32,26-28 128,-1 28-192,-25-28 0,28 26 160,-5-25-64,5 26 0,-2-26 128,-1-2-160,2 30 96,24-30-32,-24 2-64,0 0 32,25-2 0,0 3 64,-26-28 0,26 27-32,1-1 0,-2-26 65,4 27 31,-5-27-32,2 0 32,2 0-96,-2 25-32,1-25 0,-2 0 64,28-25-64,-25 25 32,-2-27-64,1 27 64,25-26 96,-26-1-128,1-1-32,-28-24 192,29 25-128,-2-26 32,-1 26 96,-24-25-256,26-1 257,-28 0-258,1-26 194,-1 26-226,1-26 33,2-1 96,-3 0-64,1 0 64,-1 1-64,-25-1 128,26 2-160,-26-28 96,25 25 0,-25-24 32,26-2-64,-28 28 32,2-26 0,-27-2 64,27 2-32,-27-2-32,0 2 0,-27-2 0,27 2-32,-27 25 0,27-25 64,-25-3 0,-2 4-32,1-3 128,-1 0-256,0 2 192,2 0 0,-28 25 64,26-27 97,-25 2-257,-1-1 256,-2 26-64,-24 2 32,26-2-32,-26 0-32,26 1-128,-26-1-32,-1 27 32,28-26 0,-29 26-96,57-1-256,-31 29 0,29-30-417,-1 3-512,2 26-673,-2-28-1473,27 28-9514</inkml:trace>
  <inkml:trace contextRef="#ctx0" brushRef="#br0" timeOffset="1479.08">16178 3299 3619,'0'0'4772,"0"0"-3330,0-27 159,0 27-480,0-26 65,-28 26 31,28-27 0,-24 27-352,24-28-193,-27 3-191,-27 25-193,27-27-64,-25 27-128,-1 0-32,1 0-32,-2 0-32,-24 0 64,-2 27 33,1-27-97,-2 25 0,2 3 64,-1 25-96,1-1 0,1-25 64,-2 26-64,1 1 0,-26-2-129,23 28 225,30-27-64,-28-1-32,28 28 64,-1-28-64,0 28 32,1 0-32,25 0 32,-28-1 0,29 1 0,-26 25-32,25-25 32,0 25 64,-25-25 65,26 27-65,-1-2 224,0 2-32,1-28-128,0 26-64,0 2-32,26-27 0,-27 26 64,27-27-96,0 28 97,0-29-97,27 2 64,-27 0 64,26 0-32,0 24 64,0-24-32,28 0-64,-28-26 32,26 24-64,2 2 32,-2-28-32,29 28 32,-30-26 65,30 24-33,-2-23 0,-26-30-64,52 27 32,-23 3-32,23-30 0,0 29-32,-26-28 0,28 1 32,26 0 0,-28-27 32,27 25-64,-26-25 64,26 0 64,0 27-224,1-27 160,-1 0-64,0 0 0,0-27 96,0 27-64,1-25-64,-1-2-32,-25 0 96,26-26-32,-27 26 32,26-25 0,-27-1 32,0 1 32,1-29-64,2 29 97,-30-28-33,2 1-96,26-28 96,-28 29-32,4-29-32,-4 0-32,0-25 64,-24 27-96,0-2-32,-2-25 96,-26 27-256,1-3 608,-27 3-256,0-27-64,0 52 64,-27-52 32,1 26-128,-26 0 33,-2-1 95,0 2-192,3-29-64,-54 29 64,23-2 32,-50 2 256,0 25-64,-1 0-96,-26 1 32,-25-1 160,26 28-63,-2-1-65,-26 0-160,29 27 0,-2-27 96,-1 0-160,-25 26 64,25 0-32,28 2-353,-25 25-319,50 0-738,-26 0-1184,27 25-3140</inkml:trace>
  <inkml:trace contextRef="#ctx0" brushRef="#br1" timeOffset="3860.22">21261 5047 16303,'-27'-53'1057,"0"53"-384,-1-27 31,2 0 417,2 27-640,-4 0-417,-26 0-64,2 54-128,-1-1 128,0-1-64,27 28 64,-27 0 64,53 0 32,0 0 0,0-1 32,27-26-128,51-1 160,-24 1-128,51-26 0,0 0-128,29-27-352,-2 0-385,-26 0-576,-27 0-1186,0-27-2978</inkml:trace>
  <inkml:trace contextRef="#ctx0" brushRef="#br1" timeOffset="4105.23">21869 4967 14093,'0'-52'448,"0"52"481,0 0-512,0 0-161,26 25 577,-26 29-257,0 26-448,0 25-64,27-25 0,-27 25 32,27 2-160,-27-27 160,25-28-480,2 1-256,-1 1-353,-26-28-769,27 1-2274,0-27-6084</inkml:trace>
  <inkml:trace contextRef="#ctx0" brushRef="#br1" timeOffset="4430.25">22238 5364 12780,'0'0'3267,"0"28"-3459,0-1 1313,27 25-161,-27-25-351,26-1-513,-26 28-96,28-29 0,26 2 0,-29-1-416,2-26-225,-1 0 33,1 0 191,0-26 129,-27-1 128,0 2 128,0-29 64,0 1-32,0 26-128,0 2 928,0-2 321,0 27-224,0 0-640,0 0-289,25 27 64,-25-2 0,27 2 64,-1 0-577,1-1-255,0 1-994,-2 0-1313,28-27-5701</inkml:trace>
  <inkml:trace contextRef="#ctx0" brushRef="#br1" timeOffset="4666.26">22902 5392 13644,'-27'-28'1218,"27"3"-1058,-28 25 224,28 0-192,-26 25 97,26 3-289,0-28-97,26 27-287,2 25 128,-1-25-32,25-1 480,-25-26-384,-27 27 256,26 0 256,-26-27 577,-26 0 576,26 25-608,-27-25-545,-1 0-256,4 0-480,-3-25-1057,-1 25-1923</inkml:trace>
  <inkml:trace contextRef="#ctx0" brushRef="#br1" timeOffset="4920.28">23139 5259 14285,'0'-28'673,"0"28"448,0 0-96,27 0 256,-2 28-192,29-28-673,-1 0-256,-1 0 33,3 0-225,-29 0 0,25 0-641,-51 0-64,28 0 33,-28-28-866,-28 28-1184,28-25-1026,-24-2-6180</inkml:trace>
  <inkml:trace contextRef="#ctx0" brushRef="#br1" timeOffset="5109.29">23350 4967 11242,'0'53'1570,"0"-26"768,0 25-352,-27 1-737,27 26-480,-25-24-353,25 23-288,0-23-32,0 24-128,0-26-608,0-26-449,0-2-289,25 2-512,-25-1-1825</inkml:trace>
  <inkml:trace contextRef="#ctx0" brushRef="#br1" timeOffset="5431.31">23405 5498 10057,'0'26'1666,"26"1"-1442,1-27 513,-3 0 480,31 0 320,-29-27-480,26 27-384,-25-26-289,0 26 65,-27-27-257,0 0 352,0 2-1152,-27 25 415,0 0-864,2 0-384,-2 0 544,1 25 833,-1 2 160,27 0 96,0 26 769,0-26-448,27 25-1,-1-26-191,26 1-161,-25-27-64,26 27 0,-1-27 0,-25 0-96,0-27-512,-27 27-2051,0-27-11818</inkml:trace>
  <inkml:trace contextRef="#ctx0" brushRef="#br1" timeOffset="5677.32">23987 5630 9192,'0'26'64,"0"-26"2210,0 0 641,-26 0-609,26 0-768,0-26-609,0-1-289,-28 2-159,28-2-65,0 0-320,0 1-192,28-1-192,-28 0 416,26 27-224,-2 0-32,3 0 32,1 0-449,-1 27-896,-1-27-2691</inkml:trace>
  <inkml:trace contextRef="#ctx0" brushRef="#br1" timeOffset="5842.33">24330 5471 15182,'0'27'2018,"0"-27"-1282,0 26 898,0-26-609,0 27-609,0 0-352,27-2-320,-27 2-737,0-1-704,26-26-1955</inkml:trace>
  <inkml:trace contextRef="#ctx0" brushRef="#br1" timeOffset="5973.34">24357 5231 11370,'26'-25'-6438</inkml:trace>
  <inkml:trace contextRef="#ctx0" brushRef="#br1" timeOffset="6240.35">24517 5683 1409,'0'0'10826,"26"-27"-10121,-26 27 704,0-26-384,24-26-352,-24 25-129,28 0-448,-1 1-32,-27-1-128,0 27 481,0 0-994,27 0 737,-27 27-448,0-1 608,0 1-512,0 0-288,26-2-705,0 2-865,0-27-1410,1 26-2561</inkml:trace>
  <inkml:trace contextRef="#ctx0" brushRef="#br1" timeOffset="6657.38">24965 5603 1505,'26'-52'3780,"-26"25"-802,0 27 65,-26-26-1313,26 26-1378,-26 0 33,0 0-546,26 0 354,-27 26-290,27-26 65,0 27-32,0 0-32,27-2-160,-1 2 192,0-1 64,0-26 32,-26 0 320,27 0 449,-27 0 448,27-26 0,-27-1-192,0 27-224,0-25-256,0-2-289,0 27-32,0-27-160,0 27-448,0 27 256,0 0 128,28 25-64,-4 1 128,-24 0-64,26-1-64,2 2 192,-28 0-160,27-2 0,-27-25 128,0 26-64,-27-26 65,27-2 223,-54 2 0,30-27-128,-31 0 1,28-27-161,-25 27-128,-1-25-673,0-2 160,27 27-191,0-28-1026,-1 3-2979</inkml:trace>
  <inkml:trace contextRef="#ctx0" brushRef="#br1" timeOffset="9297.53">26395 5419 12780,'-26'0'1697,"26"-27"-1056,-27 27 320,27-28-481,-28 28-320,4 0-128,-3 0-96,-1 0-128,2 28 96,-1-1 32,3 25 32,-4-25 32,1-1-160,27 1 128,0 0-32,0-27-32,27 25 0,1-25 31,23 0 1,3-25-128,-27 25 0,-3-27 224,-24 0 160,28 1 0,-28-1 1,0 0 479,-28 27-544,28-25 0,-24 25-63,24 0-130,0 25-63,0 2 192,24 0 129,-24-1-225,28 1 32,25 0 0,-26-2 0,-2-25-193,2 27-191,0-27-865,-1 0-1666,-26-27-6694</inkml:trace>
  <inkml:trace contextRef="#ctx0" brushRef="#br1" timeOffset="9508.54">26579 4835 17168,'0'27'-353,"27"-1"321,-27 26 64,27 2 65,-27 26 351,26-2-192,-26 1-160,27 29-96,-27-28-384,28-28-641,-28 28-961,24-53-1858</inkml:trace>
  <inkml:trace contextRef="#ctx0" brushRef="#br1" timeOffset="9918.56">26978 5419 3042,'0'0'11916,"-27"0"-12397,1 0 449,-1 0 64,-1 0-96,28 25 32,0 2-64,0 0-224,28-1-129,-1 1 257,-1-27 96,1 27 32,-2-27 160,29 0 160,-54-27-64,26 27 129,-26-27-97,0 1-192,0-1-352,0 27 192,0 0-993,0 0 32,0 27 832,0-1 97,0 28 160,0-2 96,27 28-32,-2-27 0,2 0-64,-27-1 0,0 2 289,0-28 800,0 1 288,-27-2-128,2-25 96,-28 0-384,-1 0-416,29-25-353,-28-2-320,-2 1-609,55 0-960,-24-2-1538,24-24-5670</inkml:trace>
  <inkml:trace contextRef="#ctx0" brushRef="#br1" timeOffset="10200.58">27375 5471 12940,'-54'0'160,"0"0"256,29 27 129,-2-1 63,27 1-512,0 0 1,27-2-290,-2 2 1,29-1 192,-26-26 192,22 0 97,5 0 479,-28-26 257,-1 26-160,-26-27 0,0 2-192,0-2-193,-26 0-384,-1 1-416,-1-1-481,28 27-384,-27 0-1954,27 0-3299</inkml:trace>
  <inkml:trace contextRef="#ctx0" brushRef="#br1" timeOffset="10416.59">27613 5578 864,'-27'25'8520,"27"-25"-6406,0-25 1218,-27 25-962,27-27-993,0 0-480,0 1-449,0-1-480,0-25 673,27 25-513,-27 27-672,0-28-129,27 28-288,-27 0-448,26 28-353,-26-28-832,26 27-3044</inkml:trace>
  <inkml:trace contextRef="#ctx0" brushRef="#br1" timeOffset="10560.6">27771 5471 12812,'0'0'1281,"0"0"-1505,0 27 896,0-27-736,0 26 417,0 1-706,28 0-512,-28-2-800,24 2-129,-24-27-1217</inkml:trace>
  <inkml:trace contextRef="#ctx0" brushRef="#br1" timeOffset="10682.61">27799 5286 14894,'0'-27'-353,"0"27"-1344,0 0-193</inkml:trace>
  <inkml:trace contextRef="#ctx0" brushRef="#br1" timeOffset="10864.62">27931 5364 13196,'52'28'641,"2"-28"1633,-2-28-160,28 28-609,-28 0-640,1-25-577,-26 25-288,-1-28-416,0 28-1154,-26-25-2594</inkml:trace>
  <inkml:trace contextRef="#ctx0" brushRef="#br1" timeOffset="11050.63">28142 5074 12716,'27'25'480,"-1"3"1506,-26 24 64,0-25-961,26 26-513,-26 27-383,0-27-97,0 26-160,0-26-321,26 1-960,-26-2-705,27-26-641,-27 1-2978</inkml:trace>
  <inkml:trace contextRef="#ctx0" brushRef="#br1" timeOffset="11461.65">28461 4862 12523,'0'53'1986,"24"-28"96,-24 55 96,0-1-800,0 28-610,0-27-640,0 26-64,0-27 65,0-26-225,0 1-97,0-29 97,0 2 192,0-27 0,0 0 193,0-27-161,26 27-481,-26-52-159,0 25-289,28 1 33,-1-1 351,-27 0 834,0 27-674,0 0 289,27 0 353,-27 0 319,0 0-191,0 27-641,24 0 608,-24-1-672,28 1 224,-28 0-160,0-2-449,26 2-352,-26-27-1056,0 0-3845</inkml:trace>
  <inkml:trace contextRef="#ctx0" brushRef="#br1" timeOffset="11966.68">28883 5444 13516,'26'27'225,"-52"-27"-290,26 27 546,0-1-1,-26 1-448,26 0-32,0-2-128,0 2 32,-27-1 96,27-26-64,0 0 64,0 0 64,27 0 64,-27-26-32,26-1 33,0 2 31,-26-2-128,26 0-96,1 1 704,1 26-287,-28-27 415,27 27-768,-27 27 385,0-27-642,0 26 225,0 1-320,0 0-545,0-2 225,0 2 287,0-27 33,0 26 416,0-26 128,24 0 96,-24-26 257,26 26-65,2-27-127,-1 2-289,0 25 256,-2-27 321,2 27-1,-1 0-31,-26 0 160,27 27-97,-27-27-351,0 25-129,27 2-128,-27-1-32,25 1-288,-25-27-769,0 27-2018,27-1-12940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B2513F-10D7-43B8-BD18-F250194E00F7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027D8-EDF7-4F60-B1D9-953B6983C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62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8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traditional programming, you tell the computer what to do. In machine learning, you show it examples, and it figures out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54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Machine Learning was developed as a new capability for computers.</a:t>
            </a:r>
          </a:p>
          <a:p>
            <a:r>
              <a:rPr lang="en-US" baseline="0" dirty="0"/>
              <a:t>- Machine Learning is about building systems that can learn from data.</a:t>
            </a:r>
          </a:p>
          <a:p>
            <a:r>
              <a:rPr lang="en-US" baseline="0" dirty="0"/>
              <a:t>- Machine Learning addresses the question of how to build computers that improve automatically through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145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Intrinsic: </a:t>
            </a:r>
            <a:r>
              <a:rPr lang="ar-AE" baseline="0" dirty="0"/>
              <a:t>اندرونی</a:t>
            </a:r>
            <a:endParaRPr lang="en-US" baseline="0" dirty="0"/>
          </a:p>
          <a:p>
            <a:r>
              <a:rPr lang="en-US" baseline="0" dirty="0"/>
              <a:t>Unsupervised  Learning: Find something interesting in unlabeled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13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</a:t>
            </a:r>
            <a:r>
              <a:rPr lang="en-US" b="1" dirty="0"/>
              <a:t>no labels</a:t>
            </a:r>
            <a:r>
              <a:rPr lang="en-US" dirty="0"/>
              <a:t>, and the goal is to </a:t>
            </a:r>
            <a:r>
              <a:rPr lang="en-US" b="1" dirty="0"/>
              <a:t>find patterns, structures, or relationships</a:t>
            </a:r>
            <a:r>
              <a:rPr lang="en-US" dirty="0"/>
              <a:t> in the data.</a:t>
            </a:r>
          </a:p>
          <a:p>
            <a:r>
              <a:rPr lang="en-US" dirty="0"/>
              <a:t>The concept of "inference" is different:</a:t>
            </a:r>
          </a:p>
          <a:p>
            <a:r>
              <a:rPr lang="en-US" dirty="0"/>
              <a:t>In </a:t>
            </a:r>
            <a:r>
              <a:rPr lang="en-US" b="1" dirty="0"/>
              <a:t>clustering</a:t>
            </a:r>
            <a:r>
              <a:rPr lang="en-US" dirty="0"/>
              <a:t> (e.g., K-Means), the model assigns new data points to clusters, but it </a:t>
            </a:r>
            <a:r>
              <a:rPr lang="en-US" b="1" dirty="0"/>
              <a:t>does not "predict" labels</a:t>
            </a:r>
            <a:r>
              <a:rPr lang="en-US" dirty="0"/>
              <a:t> like supervised learning.</a:t>
            </a:r>
          </a:p>
          <a:p>
            <a:r>
              <a:rPr lang="en-US" dirty="0"/>
              <a:t>In </a:t>
            </a:r>
            <a:r>
              <a:rPr lang="en-US" b="1" dirty="0"/>
              <a:t>dimensionality reduction</a:t>
            </a:r>
            <a:r>
              <a:rPr lang="en-US" dirty="0"/>
              <a:t> (e.g., PCA), new data can be projected into the learned lower-dimensional space.</a:t>
            </a:r>
          </a:p>
          <a:p>
            <a:r>
              <a:rPr lang="en-US" dirty="0"/>
              <a:t>In </a:t>
            </a:r>
            <a:r>
              <a:rPr lang="en-US" b="1" dirty="0"/>
              <a:t>anomaly detection</a:t>
            </a:r>
            <a:r>
              <a:rPr lang="en-US" dirty="0"/>
              <a:t>, the model identifies whether a new data point deviates from the learned normal pattern.</a:t>
            </a:r>
          </a:p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696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F38DAD-5F37-4EA5-A798-26ED1E45393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582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machine learning algorithm</a:t>
            </a:r>
            <a:r>
              <a:rPr lang="en-US" dirty="0"/>
              <a:t> for clustering is </a:t>
            </a:r>
            <a:r>
              <a:rPr lang="en-US" b="1" dirty="0"/>
              <a:t>K-Means Clustering</a:t>
            </a:r>
            <a:r>
              <a:rPr lang="en-US" dirty="0"/>
              <a:t>, which groups data points into </a:t>
            </a:r>
            <a:r>
              <a:rPr lang="en-US" b="1" dirty="0"/>
              <a:t>K</a:t>
            </a:r>
            <a:r>
              <a:rPr lang="en-US" dirty="0"/>
              <a:t> clusters based on their similarity. Another popular </a:t>
            </a:r>
            <a:r>
              <a:rPr lang="en-US" b="1" dirty="0"/>
              <a:t>algorithm</a:t>
            </a:r>
            <a:r>
              <a:rPr lang="en-US" dirty="0"/>
              <a:t> is </a:t>
            </a:r>
            <a:r>
              <a:rPr lang="en-US" b="1" dirty="0"/>
              <a:t>Hierarchical Clustering</a:t>
            </a:r>
            <a:r>
              <a:rPr lang="en-US" dirty="0"/>
              <a:t>, which builds a tree of clusters for better visualization of relationships.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93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centroid</a:t>
            </a:r>
            <a:r>
              <a:rPr lang="en-US" dirty="0"/>
              <a:t> is the center point of a cluster in clustering algorithms like </a:t>
            </a:r>
            <a:r>
              <a:rPr lang="en-US" b="1" dirty="0"/>
              <a:t>K-Means</a:t>
            </a:r>
            <a:r>
              <a:rPr lang="en-US" dirty="0"/>
              <a:t>. </a:t>
            </a:r>
          </a:p>
          <a:p>
            <a:r>
              <a:rPr lang="en-US" dirty="0"/>
              <a:t>It represents the </a:t>
            </a:r>
            <a:r>
              <a:rPr lang="en-US" b="1" dirty="0"/>
              <a:t>mean</a:t>
            </a:r>
            <a:r>
              <a:rPr lang="en-US" dirty="0"/>
              <a:t> (average) of all data points assigned to that cluster. The centroid </a:t>
            </a:r>
            <a:r>
              <a:rPr lang="en-US" b="1" dirty="0"/>
              <a:t>moves</a:t>
            </a:r>
            <a:r>
              <a:rPr lang="en-US" dirty="0"/>
              <a:t> during each iteration as data points are reassigned and the cluster’s mean is recalculated.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10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machine learning algorithm</a:t>
            </a:r>
            <a:r>
              <a:rPr lang="en-US" dirty="0"/>
              <a:t> for dimensionality reduction is </a:t>
            </a:r>
            <a:r>
              <a:rPr lang="en-US" b="1" dirty="0"/>
              <a:t>Principal Component Analysis (PCA)</a:t>
            </a:r>
            <a:r>
              <a:rPr lang="en-US" dirty="0"/>
              <a:t>, which transforms high-dimensional data into fewer dimensions while preserving the most important variance. Other techniques like </a:t>
            </a:r>
            <a:r>
              <a:rPr lang="en-US" b="1" dirty="0"/>
              <a:t>t-SNE (t-Distributed Stochastic Neighbor Embedding)</a:t>
            </a:r>
            <a:r>
              <a:rPr lang="en-US" dirty="0"/>
              <a:t> are also used for visualizing complex datasets.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496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machine learning model</a:t>
            </a:r>
            <a:r>
              <a:rPr lang="en-US" dirty="0"/>
              <a:t> for anomaly detection is </a:t>
            </a:r>
            <a:r>
              <a:rPr lang="en-US" b="1" dirty="0"/>
              <a:t>Gaussian Mixture Models (GMM)</a:t>
            </a:r>
            <a:r>
              <a:rPr lang="en-US" dirty="0"/>
              <a:t>, which estimates the probability distribution of the data and detects anomalies as low-probability points. Another </a:t>
            </a:r>
            <a:r>
              <a:rPr lang="en-US" b="1" dirty="0"/>
              <a:t>model</a:t>
            </a:r>
            <a:r>
              <a:rPr lang="en-US" dirty="0"/>
              <a:t> used is </a:t>
            </a:r>
            <a:r>
              <a:rPr lang="en-US" b="1" dirty="0" err="1"/>
              <a:t>Autoencoders</a:t>
            </a:r>
            <a:r>
              <a:rPr lang="en-US" dirty="0"/>
              <a:t>, which reconstruct normal data patterns and flag deviations as anomalies.</a:t>
            </a: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7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888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/>
              <a:t>Unsupervised learning is a powerful tool for discovering hidden patterns in data.</a:t>
            </a:r>
          </a:p>
          <a:p>
            <a:pPr algn="just"/>
            <a:r>
              <a:rPr lang="en-US" dirty="0"/>
              <a:t>Techniques like clustering, PCA, anomaly detection, and recommender systems are widely used in industry.</a:t>
            </a:r>
          </a:p>
          <a:p>
            <a:pPr algn="just"/>
            <a:r>
              <a:rPr lang="en-US" dirty="0"/>
              <a:t>Understanding these methods helps in exploratory data analysis and feature engineering.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027D8-EDF7-4F60-B1D9-953B6983C2D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6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89167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02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85825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9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68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6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74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385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6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02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838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861E9F1-9214-4563-ABFC-1D940E589A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1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gif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12.xml"/><Relationship Id="rId10" Type="http://schemas.openxmlformats.org/officeDocument/2006/relationships/image" Target="../media/image4.emf"/><Relationship Id="rId4" Type="http://schemas.openxmlformats.org/officeDocument/2006/relationships/tags" Target="../tags/tag4.xml"/><Relationship Id="rId9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3" Type="http://schemas.openxmlformats.org/officeDocument/2006/relationships/tags" Target="../tags/tag7.xml"/><Relationship Id="rId7" Type="http://schemas.openxmlformats.org/officeDocument/2006/relationships/image" Target="../media/image12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.xml"/><Relationship Id="rId5" Type="http://schemas.microsoft.com/office/2007/relationships/hdphoto" Target="../media/hdphoto1.wdp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10.xml"/><Relationship Id="rId7" Type="http://schemas.openxmlformats.org/officeDocument/2006/relationships/image" Target="../media/image18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notesSlide" Target="../notesSlides/notesSlide8.xml"/><Relationship Id="rId11" Type="http://schemas.openxmlformats.org/officeDocument/2006/relationships/image" Target="../media/image22.png"/><Relationship Id="rId5" Type="http://schemas.openxmlformats.org/officeDocument/2006/relationships/slideLayout" Target="../slideLayouts/slideLayout4.xml"/><Relationship Id="rId10" Type="http://schemas.openxmlformats.org/officeDocument/2006/relationships/image" Target="../media/image21.png"/><Relationship Id="rId4" Type="http://schemas.openxmlformats.org/officeDocument/2006/relationships/tags" Target="../tags/tag11.xml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748950" y="6271510"/>
            <a:ext cx="1629203" cy="395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13 July </a:t>
            </a:r>
            <a:r>
              <a:rPr lang="en-US" dirty="0"/>
              <a:t>2025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10073" y="2048935"/>
            <a:ext cx="9494701" cy="159616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Unsupervised Learning</a:t>
            </a:r>
            <a:endParaRPr lang="en-US" b="1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533692" y="3253120"/>
            <a:ext cx="9571082" cy="9256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72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Lecture 12 – HCCDA-AI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3" y="32152"/>
            <a:ext cx="2802488" cy="280248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2E0547-73FB-058E-7655-67A8A7F827D2}"/>
              </a:ext>
            </a:extLst>
          </p:cNvPr>
          <p:cNvSpPr/>
          <p:nvPr/>
        </p:nvSpPr>
        <p:spPr>
          <a:xfrm>
            <a:off x="495304" y="6393501"/>
            <a:ext cx="2307274" cy="395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RA: Imran Nawar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666880-E972-CFE5-4D81-0636FD02632D}"/>
              </a:ext>
            </a:extLst>
          </p:cNvPr>
          <p:cNvSpPr/>
          <p:nvPr/>
        </p:nvSpPr>
        <p:spPr>
          <a:xfrm>
            <a:off x="495303" y="5974648"/>
            <a:ext cx="2639783" cy="395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Dr. Muhammad Sajjad</a:t>
            </a:r>
          </a:p>
        </p:txBody>
      </p:sp>
    </p:spTree>
    <p:extLst>
      <p:ext uri="{BB962C8B-B14F-4D97-AF65-F5344CB8AC3E}">
        <p14:creationId xmlns:p14="http://schemas.microsoft.com/office/powerpoint/2010/main" val="2717607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Conventional Programming VS Machine Learning | by Ruben Stefanu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1506" y="4170439"/>
            <a:ext cx="4050512" cy="2550197"/>
          </a:xfrm>
          <a:prstGeom prst="roundRect">
            <a:avLst>
              <a:gd name="adj" fmla="val 11612"/>
            </a:avLst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11965" y="250211"/>
            <a:ext cx="90396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Traditional Programming vs Machine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1966" y="807649"/>
            <a:ext cx="6699540" cy="615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Traditional Programming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Approach</a:t>
            </a:r>
            <a:r>
              <a:rPr lang="en-US" dirty="0"/>
              <a:t>: Write explicit rules and logic for specific tasks.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Input</a:t>
            </a:r>
            <a:r>
              <a:rPr lang="en-US" dirty="0"/>
              <a:t>: </a:t>
            </a:r>
            <a:r>
              <a:rPr lang="en-US" b="1" dirty="0"/>
              <a:t>Rules</a:t>
            </a:r>
            <a:r>
              <a:rPr lang="en-US" dirty="0"/>
              <a:t> (logic) + </a:t>
            </a:r>
            <a:r>
              <a:rPr lang="en-US" b="1" dirty="0"/>
              <a:t>Data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b="1" dirty="0"/>
              <a:t>Output</a:t>
            </a:r>
            <a:r>
              <a:rPr lang="en-US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Key Focus</a:t>
            </a:r>
            <a:r>
              <a:rPr lang="en-US" dirty="0"/>
              <a:t>: Programmer defines all possible scenarios.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Use if-else statements to classify emails as spam or not.</a:t>
            </a:r>
          </a:p>
          <a:p>
            <a:pPr algn="just"/>
            <a:r>
              <a:rPr lang="en-US" sz="2400" b="1" dirty="0"/>
              <a:t>Machine Learning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Approach</a:t>
            </a:r>
            <a:r>
              <a:rPr lang="en-US" dirty="0"/>
              <a:t>: Learn patterns from data to make predictions or decisions.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Input</a:t>
            </a:r>
            <a:r>
              <a:rPr lang="en-US" dirty="0"/>
              <a:t>: </a:t>
            </a:r>
            <a:r>
              <a:rPr lang="en-US" b="1" dirty="0"/>
              <a:t>Data</a:t>
            </a:r>
            <a:r>
              <a:rPr lang="en-US" dirty="0"/>
              <a:t> + </a:t>
            </a:r>
            <a:r>
              <a:rPr lang="en-US" b="1" dirty="0"/>
              <a:t>Output </a:t>
            </a:r>
            <a:r>
              <a:rPr lang="en-US" dirty="0"/>
              <a:t>(labels) 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US" dirty="0"/>
              <a:t> Learns </a:t>
            </a:r>
            <a:r>
              <a:rPr lang="en-US" b="1" dirty="0"/>
              <a:t>Rules</a:t>
            </a:r>
            <a:r>
              <a:rPr lang="en-US" dirty="0"/>
              <a:t> (Model).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Key Focus</a:t>
            </a:r>
            <a:r>
              <a:rPr lang="en-US" dirty="0"/>
              <a:t>: Relies on high-quality training data.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Example</a:t>
            </a:r>
            <a:r>
              <a:rPr lang="en-US" dirty="0"/>
              <a:t>: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/>
              <a:t>Train a spam classifier with labeled examples of spam and non-spam emails.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2000" b="1" dirty="0"/>
              <a:t>Key Difference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Traditional Programming</a:t>
            </a:r>
            <a:r>
              <a:rPr lang="en-US" dirty="0"/>
              <a:t>: Fixed rules; limited flexibility.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Machine Learning</a:t>
            </a:r>
            <a:r>
              <a:rPr lang="en-US" dirty="0"/>
              <a:t>: Adaptive rules; improves with more data.</a:t>
            </a:r>
          </a:p>
        </p:txBody>
      </p:sp>
    </p:spTree>
    <p:extLst>
      <p:ext uri="{BB962C8B-B14F-4D97-AF65-F5344CB8AC3E}">
        <p14:creationId xmlns:p14="http://schemas.microsoft.com/office/powerpoint/2010/main" val="383740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157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5048" y="1158672"/>
            <a:ext cx="6144607" cy="5603692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Machine learning is the science (and art) of programming computers so they can learn from data.</a:t>
            </a:r>
          </a:p>
          <a:p>
            <a:pPr algn="just"/>
            <a:endParaRPr lang="en-US" sz="1600" dirty="0">
              <a:cs typeface="Times New Roman" panose="02020603050405020304" pitchFamily="18" charset="0"/>
            </a:endParaRPr>
          </a:p>
          <a:p>
            <a:pPr algn="just"/>
            <a:r>
              <a:rPr lang="en-US" sz="1600" dirty="0"/>
              <a:t>[Machine learning is the] field of study that gives computers the ability to learn without being explicitly programmed.</a:t>
            </a:r>
          </a:p>
          <a:p>
            <a:pPr marL="0" indent="0" algn="just">
              <a:buNone/>
            </a:pPr>
            <a:r>
              <a:rPr lang="en-US" sz="1600" dirty="0"/>
              <a:t> 			             — Arthur Samuel, 1959</a:t>
            </a:r>
          </a:p>
          <a:p>
            <a:pPr algn="just"/>
            <a:endParaRPr lang="en-US" sz="1600" dirty="0">
              <a:solidFill>
                <a:srgbClr val="0070C0"/>
              </a:solidFill>
            </a:endParaRPr>
          </a:p>
          <a:p>
            <a:pPr algn="just"/>
            <a:r>
              <a:rPr lang="en-US" sz="1600" dirty="0">
                <a:solidFill>
                  <a:srgbClr val="0070C0"/>
                </a:solidFill>
              </a:rPr>
              <a:t>“A computer program is said to </a:t>
            </a:r>
            <a:r>
              <a:rPr lang="en-US" sz="1600" i="1" dirty="0">
                <a:solidFill>
                  <a:srgbClr val="0070C0"/>
                </a:solidFill>
              </a:rPr>
              <a:t>learn</a:t>
            </a:r>
            <a:r>
              <a:rPr lang="en-US" sz="1600" dirty="0">
                <a:solidFill>
                  <a:srgbClr val="0070C0"/>
                </a:solidFill>
              </a:rPr>
              <a:t> from experience E with respect to some task T and some performance measure P, if its performance on T, as measured by P, improves with experience E.”</a:t>
            </a:r>
          </a:p>
          <a:p>
            <a:pPr marL="0" indent="0" algn="just">
              <a:buNone/>
            </a:pPr>
            <a:r>
              <a:rPr lang="en-US" sz="1600" dirty="0"/>
              <a:t>				 —Tom Mitchell, 1997</a:t>
            </a:r>
          </a:p>
          <a:p>
            <a:pPr lvl="1"/>
            <a:r>
              <a:rPr lang="en-US" dirty="0">
                <a:solidFill>
                  <a:schemeClr val="tx2">
                    <a:lumMod val="40000"/>
                    <a:lumOff val="60000"/>
                  </a:schemeClr>
                </a:solidFill>
              </a:rPr>
              <a:t>[Machine Learning means a computer improves at a task (T) over time as it gains experience (E), measured by a performance metric (P)].</a:t>
            </a:r>
          </a:p>
          <a:p>
            <a:pPr lvl="1" algn="just"/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8779" t="10076" r="6610" b="10194"/>
          <a:stretch/>
        </p:blipFill>
        <p:spPr>
          <a:xfrm>
            <a:off x="6515099" y="1180500"/>
            <a:ext cx="4754881" cy="2240281"/>
          </a:xfrm>
          <a:prstGeom prst="roundRect">
            <a:avLst>
              <a:gd name="adj" fmla="val 14116"/>
            </a:avLst>
          </a:prstGeom>
        </p:spPr>
      </p:pic>
      <p:pic>
        <p:nvPicPr>
          <p:cNvPr id="1028" name="Picture 4" descr="What is Machine Learning? - Cynnovativ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746" y="3465469"/>
            <a:ext cx="3354521" cy="3354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8777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2727" y="1011134"/>
            <a:ext cx="6428123" cy="6027907"/>
          </a:xfrm>
        </p:spPr>
        <p:txBody>
          <a:bodyPr>
            <a:no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US" sz="2400" b="1" dirty="0"/>
              <a:t>Unsupervised Learning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Unsupervised Learning involves training a model on data that does not have </a:t>
            </a:r>
            <a:r>
              <a:rPr lang="en-US"/>
              <a:t>labeled responses.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/>
              <a:t>The model tries to find hidden patterns or intrinsic structures in the input data.</a:t>
            </a:r>
          </a:p>
          <a:p>
            <a:pPr marL="0" indent="0" algn="just">
              <a:buNone/>
            </a:pPr>
            <a:r>
              <a:rPr lang="en-US" sz="2200" b="1" dirty="0"/>
              <a:t>Common Tasks in Unsupervised Learning:</a:t>
            </a:r>
          </a:p>
          <a:p>
            <a:pPr marL="617220" lvl="1" indent="-342900" algn="just">
              <a:buFont typeface="+mj-lt"/>
              <a:buAutoNum type="arabicPeriod"/>
            </a:pPr>
            <a:r>
              <a:rPr lang="en-US" sz="1800" b="1" dirty="0"/>
              <a:t>Clustering:</a:t>
            </a:r>
            <a:r>
              <a:rPr lang="en-US" sz="1800" dirty="0"/>
              <a:t>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1600" dirty="0"/>
              <a:t>Grouping similar data points together.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1600" dirty="0"/>
              <a:t>For example, customer segmentation in marketing, where customers are grouped based on purchasing behavior.</a:t>
            </a:r>
          </a:p>
          <a:p>
            <a:pPr marL="617220" lvl="1" indent="-342900" algn="just">
              <a:buFont typeface="+mj-lt"/>
              <a:buAutoNum type="arabicPeriod"/>
            </a:pPr>
            <a:r>
              <a:rPr lang="en-US" sz="1800" b="1" dirty="0"/>
              <a:t>Anomaly Detection:</a:t>
            </a:r>
            <a:r>
              <a:rPr lang="en-US" sz="1800" dirty="0"/>
              <a:t>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1600" dirty="0"/>
              <a:t>Identifying outliers or unusual data points that do not conform to the expected pattern.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1600" dirty="0"/>
              <a:t>For example, detecting fraudulent transactions in financial systems.</a:t>
            </a:r>
          </a:p>
          <a:p>
            <a:pPr marL="617220" lvl="1" indent="-342900" algn="just">
              <a:buFont typeface="+mj-lt"/>
              <a:buAutoNum type="arabicPeriod"/>
            </a:pPr>
            <a:r>
              <a:rPr lang="en-US" sz="1800" b="1" dirty="0"/>
              <a:t>Association:</a:t>
            </a:r>
            <a:r>
              <a:rPr lang="en-US" sz="1800" dirty="0"/>
              <a:t>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1600" dirty="0"/>
              <a:t>Discovering rules that describe large portions of the data.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en-US" sz="1600" dirty="0"/>
              <a:t>For example, market basket analysis in retail, where associations between products bought together are identified.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4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291" y="3885174"/>
            <a:ext cx="4325452" cy="2880751"/>
          </a:xfrm>
          <a:prstGeom prst="roundRect">
            <a:avLst>
              <a:gd name="adj" fmla="val 12390"/>
            </a:avLst>
          </a:prstGeom>
          <a:ln>
            <a:solidFill>
              <a:schemeClr val="accent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7" r="8266"/>
          <a:stretch/>
        </p:blipFill>
        <p:spPr>
          <a:xfrm>
            <a:off x="6892291" y="3885174"/>
            <a:ext cx="4325452" cy="2880751"/>
          </a:xfrm>
          <a:prstGeom prst="roundRect">
            <a:avLst>
              <a:gd name="adj" fmla="val 11906"/>
            </a:avLst>
          </a:prstGeom>
          <a:ln>
            <a:solidFill>
              <a:schemeClr val="accent1"/>
            </a:solidFill>
          </a:ln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2290" y="3885173"/>
            <a:ext cx="4334815" cy="2880751"/>
          </a:xfrm>
          <a:prstGeom prst="roundRect">
            <a:avLst>
              <a:gd name="adj" fmla="val 11533"/>
            </a:avLst>
          </a:prstGeom>
          <a:ln>
            <a:solidFill>
              <a:schemeClr val="accent1"/>
            </a:solidFill>
          </a:ln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372727" y="330769"/>
            <a:ext cx="999475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Types of Machine Learning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990" y="1302696"/>
            <a:ext cx="4491990" cy="252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821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7792372"/>
              </p:ext>
            </p:extLst>
          </p:nvPr>
        </p:nvGraphicFramePr>
        <p:xfrm>
          <a:off x="660587" y="1538894"/>
          <a:ext cx="9976932" cy="3603524"/>
        </p:xfrm>
        <a:graphic>
          <a:graphicData uri="http://schemas.openxmlformats.org/drawingml/2006/table">
            <a:tbl>
              <a:tblPr/>
              <a:tblGrid>
                <a:gridCol w="2285813">
                  <a:extLst>
                    <a:ext uri="{9D8B030D-6E8A-4147-A177-3AD203B41FA5}">
                      <a16:colId xmlns:a16="http://schemas.microsoft.com/office/drawing/2014/main" val="406007476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3766671498"/>
                    </a:ext>
                  </a:extLst>
                </a:gridCol>
                <a:gridCol w="4003039">
                  <a:extLst>
                    <a:ext uri="{9D8B030D-6E8A-4147-A177-3AD203B41FA5}">
                      <a16:colId xmlns:a16="http://schemas.microsoft.com/office/drawing/2014/main" val="217318622"/>
                    </a:ext>
                  </a:extLst>
                </a:gridCol>
              </a:tblGrid>
              <a:tr h="696306">
                <a:tc>
                  <a:txBody>
                    <a:bodyPr/>
                    <a:lstStyle/>
                    <a:p>
                      <a:r>
                        <a:rPr lang="en-US" sz="2000" b="1" dirty="0"/>
                        <a:t>Feature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Supervised Learning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Unsupervised Learning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3518815"/>
                  </a:ext>
                </a:extLst>
              </a:tr>
              <a:tr h="621218">
                <a:tc>
                  <a:txBody>
                    <a:bodyPr/>
                    <a:lstStyle/>
                    <a:p>
                      <a:r>
                        <a:rPr lang="en-US" sz="1800" b="1" dirty="0"/>
                        <a:t>Data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Labeled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Unlabeled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940617"/>
                  </a:ext>
                </a:extLst>
              </a:tr>
              <a:tr h="862142">
                <a:tc>
                  <a:txBody>
                    <a:bodyPr/>
                    <a:lstStyle/>
                    <a:p>
                      <a:r>
                        <a:rPr lang="en-US" sz="1800" b="1" dirty="0"/>
                        <a:t>Goal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Learn from input-output pairs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Find hidden patterns in data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2658203"/>
                  </a:ext>
                </a:extLst>
              </a:tr>
              <a:tr h="802640">
                <a:tc>
                  <a:txBody>
                    <a:bodyPr/>
                    <a:lstStyle/>
                    <a:p>
                      <a:r>
                        <a:rPr lang="en-US" sz="1800" b="1" dirty="0"/>
                        <a:t>Examples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Classification, Regression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Clustering, PCA, Anomaly Detection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395812"/>
                  </a:ext>
                </a:extLst>
              </a:tr>
              <a:tr h="621218">
                <a:tc>
                  <a:txBody>
                    <a:bodyPr/>
                    <a:lstStyle/>
                    <a:p>
                      <a:r>
                        <a:rPr lang="en-US" sz="1800" b="1" dirty="0"/>
                        <a:t>Output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Predictive model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Data patterns or groups</a:t>
                      </a:r>
                    </a:p>
                  </a:txBody>
                  <a:tcPr marL="62762" marR="62762" marT="31381" marB="313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8789544"/>
                  </a:ext>
                </a:extLst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5</a:t>
            </a:fld>
            <a:endParaRPr lang="en-US"/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372727" y="330769"/>
            <a:ext cx="10920113" cy="6262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/>
              <a:t>Difference Between Supervised and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50902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35"/>
          <p:cNvSpPr txBox="1"/>
          <p:nvPr/>
        </p:nvSpPr>
        <p:spPr>
          <a:xfrm>
            <a:off x="508000" y="371025"/>
            <a:ext cx="1107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Supervised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5664201"/>
            <a:ext cx="110744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dirty="0"/>
              <a:t>Training set: 						  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4109192" y="1303833"/>
            <a:ext cx="14752" cy="3697824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860800" y="4747260"/>
            <a:ext cx="44704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101041" y="3228105"/>
            <a:ext cx="308935" cy="30893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3" name="Cross 22"/>
          <p:cNvSpPr/>
          <p:nvPr/>
        </p:nvSpPr>
        <p:spPr>
          <a:xfrm rot="2734294">
            <a:off x="6109245" y="1808542"/>
            <a:ext cx="405308" cy="40530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8" name="Oval 27"/>
          <p:cNvSpPr/>
          <p:nvPr/>
        </p:nvSpPr>
        <p:spPr>
          <a:xfrm>
            <a:off x="4854461" y="4188931"/>
            <a:ext cx="308935" cy="30893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1" name="Oval 30"/>
          <p:cNvSpPr/>
          <p:nvPr/>
        </p:nvSpPr>
        <p:spPr>
          <a:xfrm>
            <a:off x="4497074" y="3584691"/>
            <a:ext cx="308935" cy="30893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3" name="Oval 32"/>
          <p:cNvSpPr/>
          <p:nvPr/>
        </p:nvSpPr>
        <p:spPr>
          <a:xfrm>
            <a:off x="5218538" y="3892121"/>
            <a:ext cx="308935" cy="30893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4" name="Oval 33"/>
          <p:cNvSpPr/>
          <p:nvPr/>
        </p:nvSpPr>
        <p:spPr>
          <a:xfrm>
            <a:off x="4497074" y="3034134"/>
            <a:ext cx="308935" cy="308935"/>
          </a:xfrm>
          <a:prstGeom prst="ellipse">
            <a:avLst/>
          </a:prstGeom>
          <a:noFill/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5" name="Cross 34"/>
          <p:cNvSpPr/>
          <p:nvPr/>
        </p:nvSpPr>
        <p:spPr>
          <a:xfrm rot="2734294">
            <a:off x="6179929" y="2330163"/>
            <a:ext cx="405308" cy="40530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Cross 35"/>
          <p:cNvSpPr/>
          <p:nvPr/>
        </p:nvSpPr>
        <p:spPr>
          <a:xfrm rot="2734294">
            <a:off x="6754323" y="2394406"/>
            <a:ext cx="405308" cy="40530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7" name="Cross 36"/>
          <p:cNvSpPr/>
          <p:nvPr/>
        </p:nvSpPr>
        <p:spPr>
          <a:xfrm rot="2734294">
            <a:off x="7137947" y="1942181"/>
            <a:ext cx="405308" cy="40530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Cross 37"/>
          <p:cNvSpPr/>
          <p:nvPr/>
        </p:nvSpPr>
        <p:spPr>
          <a:xfrm rot="2734294">
            <a:off x="6494318" y="1583473"/>
            <a:ext cx="405308" cy="405308"/>
          </a:xfrm>
          <a:prstGeom prst="plus">
            <a:avLst>
              <a:gd name="adj" fmla="val 46579"/>
            </a:avLst>
          </a:prstGeom>
          <a:solidFill>
            <a:schemeClr val="tx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614" y="1897215"/>
            <a:ext cx="297180" cy="2006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635" y="5001658"/>
            <a:ext cx="304800" cy="2006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7917" y="5839299"/>
            <a:ext cx="7180083" cy="368024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>
            <a:off x="3860800" y="4747260"/>
            <a:ext cx="44704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614" y="1897215"/>
            <a:ext cx="297180" cy="20066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" name="Ink 1"/>
              <p14:cNvContentPartPr/>
              <p14:nvPr/>
            </p14:nvContentPartPr>
            <p14:xfrm>
              <a:off x="4639680" y="2098079"/>
              <a:ext cx="2573176" cy="2165183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29960" y="2092679"/>
                <a:ext cx="6542536" cy="391514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145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8000" y="323891"/>
            <a:ext cx="1107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Unsupervised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5664200"/>
            <a:ext cx="110744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dirty="0"/>
              <a:t>Training set: 		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H="1" flipV="1">
            <a:off x="4014922" y="1303833"/>
            <a:ext cx="14752" cy="3697824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766530" y="4747260"/>
            <a:ext cx="4470400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614" y="1897215"/>
            <a:ext cx="297180" cy="200660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635" y="5001658"/>
            <a:ext cx="304800" cy="20066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4350" y="5818703"/>
            <a:ext cx="3667760" cy="3886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611785" y="3158123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6" name="Oval 35"/>
          <p:cNvSpPr/>
          <p:nvPr/>
        </p:nvSpPr>
        <p:spPr>
          <a:xfrm>
            <a:off x="5219593" y="3357441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7" name="Oval 36"/>
          <p:cNvSpPr/>
          <p:nvPr/>
        </p:nvSpPr>
        <p:spPr>
          <a:xfrm>
            <a:off x="5337062" y="4000169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8" name="Oval 37"/>
          <p:cNvSpPr/>
          <p:nvPr/>
        </p:nvSpPr>
        <p:spPr>
          <a:xfrm>
            <a:off x="4620594" y="3712598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39" name="Oval 38"/>
          <p:cNvSpPr/>
          <p:nvPr/>
        </p:nvSpPr>
        <p:spPr>
          <a:xfrm>
            <a:off x="4978401" y="4312921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0" name="Oval 39"/>
          <p:cNvSpPr/>
          <p:nvPr/>
        </p:nvSpPr>
        <p:spPr>
          <a:xfrm>
            <a:off x="6351914" y="2508565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1" name="Oval 40"/>
          <p:cNvSpPr/>
          <p:nvPr/>
        </p:nvSpPr>
        <p:spPr>
          <a:xfrm>
            <a:off x="6919561" y="2571661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2" name="Oval 41"/>
          <p:cNvSpPr/>
          <p:nvPr/>
        </p:nvSpPr>
        <p:spPr>
          <a:xfrm>
            <a:off x="6669798" y="1767185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3" name="Oval 42"/>
          <p:cNvSpPr/>
          <p:nvPr/>
        </p:nvSpPr>
        <p:spPr>
          <a:xfrm>
            <a:off x="7315201" y="2096577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44" name="Oval 43"/>
          <p:cNvSpPr/>
          <p:nvPr/>
        </p:nvSpPr>
        <p:spPr>
          <a:xfrm>
            <a:off x="6285373" y="1967065"/>
            <a:ext cx="60959" cy="6095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4088196" y="1506720"/>
              <a:ext cx="7261560" cy="310968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89156" y="1495920"/>
                <a:ext cx="7863120" cy="484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3554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928691" y="3930977"/>
            <a:ext cx="10486700" cy="11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92500" lnSpcReduction="10000"/>
          </a:bodyPr>
          <a:lstStyle/>
          <a:p>
            <a:pPr defTabSz="1219170">
              <a:defRPr/>
            </a:pPr>
            <a:fld id="{F043A558-56C3-499B-89A2-59E5853E6BB4}" type="slidenum">
              <a:rPr lang="en-US">
                <a:solidFill>
                  <a:prstClr val="black">
                    <a:tint val="75000"/>
                  </a:prstClr>
                </a:solidFill>
                <a:latin typeface="Century Schoolbook" panose="02040604050505020304"/>
              </a:rPr>
              <a:pPr defTabSz="1219170">
                <a:defRPr/>
              </a:pPr>
              <a:t>8</a:t>
            </a:fld>
            <a:endParaRPr lang="en-US">
              <a:solidFill>
                <a:prstClr val="black">
                  <a:tint val="75000"/>
                </a:prstClr>
              </a:solidFill>
              <a:latin typeface="Century Schoolbook" panose="02040604050505020304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261872" y="1772238"/>
            <a:ext cx="9616660" cy="2076254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Key Techniques of Unsupervised Learning</a:t>
            </a:r>
          </a:p>
        </p:txBody>
      </p:sp>
    </p:spTree>
    <p:extLst>
      <p:ext uri="{BB962C8B-B14F-4D97-AF65-F5344CB8AC3E}">
        <p14:creationId xmlns:p14="http://schemas.microsoft.com/office/powerpoint/2010/main" val="2903709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b="1" dirty="0"/>
              <a:t>Clustering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65485" y="965240"/>
            <a:ext cx="7783925" cy="1305991"/>
          </a:xfrm>
        </p:spPr>
        <p:txBody>
          <a:bodyPr>
            <a:noAutofit/>
          </a:bodyPr>
          <a:lstStyle/>
          <a:p>
            <a:pPr algn="just">
              <a:spcBef>
                <a:spcPts val="500"/>
              </a:spcBef>
            </a:pPr>
            <a:r>
              <a:rPr lang="en-US" sz="1600" dirty="0"/>
              <a:t>Grouping similar data points together. </a:t>
            </a:r>
          </a:p>
          <a:p>
            <a:pPr algn="just">
              <a:spcBef>
                <a:spcPts val="500"/>
              </a:spcBef>
            </a:pPr>
            <a:r>
              <a:rPr lang="en-US" sz="1600" b="1" dirty="0"/>
              <a:t>For example, </a:t>
            </a:r>
            <a:r>
              <a:rPr lang="en-US" sz="1600" dirty="0"/>
              <a:t>customer segmentation in marketing, where customers are grouped based on purchasing behavior.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9</a:t>
            </a:fld>
            <a:endParaRPr lang="en-US"/>
          </a:p>
        </p:txBody>
      </p:sp>
      <p:sp>
        <p:nvSpPr>
          <p:cNvPr id="71" name="TextBox 70"/>
          <p:cNvSpPr txBox="1"/>
          <p:nvPr/>
        </p:nvSpPr>
        <p:spPr>
          <a:xfrm>
            <a:off x="558760" y="2304223"/>
            <a:ext cx="6020109" cy="543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Applications of Clustering</a:t>
            </a:r>
          </a:p>
        </p:txBody>
      </p:sp>
      <p:sp>
        <p:nvSpPr>
          <p:cNvPr id="74" name="Text Box 90"/>
          <p:cNvSpPr txBox="1">
            <a:spLocks noChangeArrowheads="1"/>
          </p:cNvSpPr>
          <p:nvPr/>
        </p:nvSpPr>
        <p:spPr bwMode="auto">
          <a:xfrm>
            <a:off x="1253692" y="6342000"/>
            <a:ext cx="459425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Organize computing clusters</a:t>
            </a:r>
          </a:p>
        </p:txBody>
      </p:sp>
      <p:sp>
        <p:nvSpPr>
          <p:cNvPr id="75" name="Text Box 91"/>
          <p:cNvSpPr txBox="1">
            <a:spLocks noChangeArrowheads="1"/>
          </p:cNvSpPr>
          <p:nvPr/>
        </p:nvSpPr>
        <p:spPr bwMode="auto">
          <a:xfrm>
            <a:off x="7195471" y="3961012"/>
            <a:ext cx="369449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Social network analysis</a:t>
            </a:r>
          </a:p>
        </p:txBody>
      </p:sp>
      <p:grpSp>
        <p:nvGrpSpPr>
          <p:cNvPr id="76" name="Group 118"/>
          <p:cNvGrpSpPr>
            <a:grpSpLocks/>
          </p:cNvGrpSpPr>
          <p:nvPr/>
        </p:nvGrpSpPr>
        <p:grpSpPr bwMode="auto">
          <a:xfrm>
            <a:off x="6824592" y="4419430"/>
            <a:ext cx="4018934" cy="1897238"/>
            <a:chOff x="243" y="2112"/>
            <a:chExt cx="2362" cy="1722"/>
          </a:xfrm>
        </p:grpSpPr>
        <p:pic>
          <p:nvPicPr>
            <p:cNvPr id="77" name="Picture 9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43" y="2112"/>
              <a:ext cx="2274" cy="17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8" name="Rectangle 94"/>
            <p:cNvSpPr>
              <a:spLocks noChangeArrowheads="1"/>
            </p:cNvSpPr>
            <p:nvPr/>
          </p:nvSpPr>
          <p:spPr bwMode="auto">
            <a:xfrm>
              <a:off x="255" y="3732"/>
              <a:ext cx="2350" cy="102"/>
            </a:xfrm>
            <a:prstGeom prst="rect">
              <a:avLst/>
            </a:prstGeom>
            <a:solidFill>
              <a:schemeClr val="bg1">
                <a:alpha val="50195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933" dirty="0"/>
                <a:t>Image credit: NASA/JPL-Caltech/E. </a:t>
              </a:r>
              <a:r>
                <a:rPr lang="en-US" sz="933" dirty="0" err="1"/>
                <a:t>Churchwell</a:t>
              </a:r>
              <a:r>
                <a:rPr lang="en-US" sz="933" dirty="0"/>
                <a:t> (Univ. of Wisconsin, Madison) </a:t>
              </a:r>
            </a:p>
          </p:txBody>
        </p:sp>
      </p:grpSp>
      <p:sp>
        <p:nvSpPr>
          <p:cNvPr id="79" name="Text Box 95"/>
          <p:cNvSpPr txBox="1">
            <a:spLocks noChangeArrowheads="1"/>
          </p:cNvSpPr>
          <p:nvPr/>
        </p:nvSpPr>
        <p:spPr bwMode="auto">
          <a:xfrm>
            <a:off x="6730738" y="6316668"/>
            <a:ext cx="419539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Astronomical data analysis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7195471" y="1782872"/>
            <a:ext cx="3819556" cy="2309478"/>
            <a:chOff x="4648200" y="-19050"/>
            <a:chExt cx="3973513" cy="2277382"/>
          </a:xfrm>
        </p:grpSpPr>
        <p:pic>
          <p:nvPicPr>
            <p:cNvPr id="8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700" y="12473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2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0258" y="76364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3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43885" y="1153658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8310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5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7274" y="8739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6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9400" y="-190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7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05236" y="70889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8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24412" y="44252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9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58196" y="4725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0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53073" y="11985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1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723" y="70407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2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5198" y="1515495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3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856" y="1288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94" name="Straight Arrow Connector 93"/>
            <p:cNvCxnSpPr>
              <a:endCxn id="81" idx="2"/>
            </p:cNvCxnSpPr>
            <p:nvPr/>
          </p:nvCxnSpPr>
          <p:spPr>
            <a:xfrm flipV="1">
              <a:off x="4965700" y="713774"/>
              <a:ext cx="184320" cy="28963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>
              <a:endCxn id="81" idx="2"/>
            </p:cNvCxnSpPr>
            <p:nvPr/>
          </p:nvCxnSpPr>
          <p:spPr>
            <a:xfrm flipH="1" flipV="1">
              <a:off x="5150020" y="713774"/>
              <a:ext cx="184320" cy="33170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>
              <a:stCxn id="83" idx="1"/>
            </p:cNvCxnSpPr>
            <p:nvPr/>
          </p:nvCxnSpPr>
          <p:spPr>
            <a:xfrm flipH="1" flipV="1">
              <a:off x="5675914" y="1297934"/>
              <a:ext cx="267971" cy="15024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7" name="Picture 2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0200" y="1669290"/>
              <a:ext cx="368640" cy="5890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98" name="Straight Arrow Connector 97"/>
            <p:cNvCxnSpPr>
              <a:stCxn id="87" idx="1"/>
              <a:endCxn id="82" idx="2"/>
            </p:cNvCxnSpPr>
            <p:nvPr/>
          </p:nvCxnSpPr>
          <p:spPr>
            <a:xfrm flipH="1" flipV="1">
              <a:off x="6234578" y="665406"/>
              <a:ext cx="270658" cy="33800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>
              <a:stCxn id="97" idx="3"/>
              <a:endCxn id="83" idx="2"/>
            </p:cNvCxnSpPr>
            <p:nvPr/>
          </p:nvCxnSpPr>
          <p:spPr>
            <a:xfrm flipV="1">
              <a:off x="5778840" y="1742700"/>
              <a:ext cx="349365" cy="22111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stCxn id="92" idx="1"/>
              <a:endCxn id="83" idx="3"/>
            </p:cNvCxnSpPr>
            <p:nvPr/>
          </p:nvCxnSpPr>
          <p:spPr>
            <a:xfrm flipH="1" flipV="1">
              <a:off x="6312525" y="1448179"/>
              <a:ext cx="302673" cy="36183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stCxn id="97" idx="3"/>
              <a:endCxn id="92" idx="1"/>
            </p:cNvCxnSpPr>
            <p:nvPr/>
          </p:nvCxnSpPr>
          <p:spPr>
            <a:xfrm flipV="1">
              <a:off x="5778840" y="1810016"/>
              <a:ext cx="836358" cy="15379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stCxn id="92" idx="3"/>
              <a:endCxn id="93" idx="1"/>
            </p:cNvCxnSpPr>
            <p:nvPr/>
          </p:nvCxnSpPr>
          <p:spPr>
            <a:xfrm flipV="1">
              <a:off x="6983838" y="1582811"/>
              <a:ext cx="234018" cy="227205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stCxn id="93" idx="1"/>
              <a:endCxn id="83" idx="3"/>
            </p:cNvCxnSpPr>
            <p:nvPr/>
          </p:nvCxnSpPr>
          <p:spPr>
            <a:xfrm flipH="1" flipV="1">
              <a:off x="6312525" y="1448179"/>
              <a:ext cx="905331" cy="13463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Arrow Connector 103"/>
            <p:cNvCxnSpPr>
              <a:stCxn id="86" idx="1"/>
              <a:endCxn id="82" idx="3"/>
            </p:cNvCxnSpPr>
            <p:nvPr/>
          </p:nvCxnSpPr>
          <p:spPr>
            <a:xfrm flipH="1">
              <a:off x="6418898" y="275471"/>
              <a:ext cx="210502" cy="95414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>
            <a:xfrm flipH="1">
              <a:off x="4965700" y="1003413"/>
              <a:ext cx="36864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>
              <a:stCxn id="86" idx="3"/>
              <a:endCxn id="88" idx="1"/>
            </p:cNvCxnSpPr>
            <p:nvPr/>
          </p:nvCxnSpPr>
          <p:spPr>
            <a:xfrm>
              <a:off x="6998040" y="275471"/>
              <a:ext cx="526372" cy="63302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>
              <a:stCxn id="88" idx="3"/>
              <a:endCxn id="90" idx="1"/>
            </p:cNvCxnSpPr>
            <p:nvPr/>
          </p:nvCxnSpPr>
          <p:spPr>
            <a:xfrm>
              <a:off x="7893052" y="338773"/>
              <a:ext cx="360021" cy="755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91" idx="3"/>
              <a:endCxn id="90" idx="2"/>
            </p:cNvCxnSpPr>
            <p:nvPr/>
          </p:nvCxnSpPr>
          <p:spPr>
            <a:xfrm flipV="1">
              <a:off x="8340363" y="708892"/>
              <a:ext cx="97030" cy="289699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>
              <a:stCxn id="88" idx="2"/>
              <a:endCxn id="91" idx="1"/>
            </p:cNvCxnSpPr>
            <p:nvPr/>
          </p:nvCxnSpPr>
          <p:spPr>
            <a:xfrm>
              <a:off x="7708732" y="633294"/>
              <a:ext cx="262991" cy="36529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>
              <a:stCxn id="88" idx="2"/>
              <a:endCxn id="89" idx="3"/>
            </p:cNvCxnSpPr>
            <p:nvPr/>
          </p:nvCxnSpPr>
          <p:spPr>
            <a:xfrm flipH="1">
              <a:off x="7426836" y="633294"/>
              <a:ext cx="281896" cy="133817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>
              <a:stCxn id="87" idx="3"/>
              <a:endCxn id="93" idx="1"/>
            </p:cNvCxnSpPr>
            <p:nvPr/>
          </p:nvCxnSpPr>
          <p:spPr>
            <a:xfrm>
              <a:off x="6873876" y="1003413"/>
              <a:ext cx="343980" cy="579398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>
              <a:stCxn id="89" idx="1"/>
              <a:endCxn id="86" idx="3"/>
            </p:cNvCxnSpPr>
            <p:nvPr/>
          </p:nvCxnSpPr>
          <p:spPr>
            <a:xfrm flipH="1" flipV="1">
              <a:off x="6998040" y="275471"/>
              <a:ext cx="60156" cy="491640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>
              <a:stCxn id="86" idx="2"/>
              <a:endCxn id="87" idx="3"/>
            </p:cNvCxnSpPr>
            <p:nvPr/>
          </p:nvCxnSpPr>
          <p:spPr>
            <a:xfrm>
              <a:off x="6813720" y="569992"/>
              <a:ext cx="60156" cy="433421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Group 113"/>
          <p:cNvGrpSpPr/>
          <p:nvPr/>
        </p:nvGrpSpPr>
        <p:grpSpPr>
          <a:xfrm>
            <a:off x="2914766" y="2287618"/>
            <a:ext cx="3720524" cy="3536069"/>
            <a:chOff x="330111" y="1807705"/>
            <a:chExt cx="4016551" cy="3950298"/>
          </a:xfrm>
        </p:grpSpPr>
        <p:graphicFrame>
          <p:nvGraphicFramePr>
            <p:cNvPr id="115" name="Chart 114"/>
            <p:cNvGraphicFramePr/>
            <p:nvPr/>
          </p:nvGraphicFramePr>
          <p:xfrm>
            <a:off x="330111" y="1807705"/>
            <a:ext cx="4016551" cy="3950298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pic>
          <p:nvPicPr>
            <p:cNvPr id="116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86146" y="2475958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7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70661" y="229643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8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6639" y="258470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9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3239" y="3298029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0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800" y="3149213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1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4497" y="314921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2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1534" y="33337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3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7281" y="32358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4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8909" y="3562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5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7800" y="3505077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0399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7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23431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8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2419350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29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026" y="2634604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0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chemeClr val="accent3">
                  <a:lumMod val="75000"/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96" y="260032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1" name="Picture 2"/>
            <p:cNvPicPr>
              <a:picLocks noChangeAspect="1" noChangeArrowheads="1"/>
            </p:cNvPicPr>
            <p:nvPr/>
          </p:nvPicPr>
          <p:blipFill>
            <a:blip r:embed="rId7" cstate="print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>
                          <a14:foregroundMark x1="42593" y1="19467" x2="42593" y2="194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9526" y="3466975"/>
              <a:ext cx="397730" cy="635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34" name="Picture 88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601743" y="4881416"/>
            <a:ext cx="1464165" cy="1462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5" name="Picture 89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532416" y="4881416"/>
            <a:ext cx="1516908" cy="1515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722092" y="4278774"/>
            <a:ext cx="27815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Market Segmentation</a:t>
            </a:r>
          </a:p>
        </p:txBody>
      </p:sp>
    </p:spTree>
    <p:extLst>
      <p:ext uri="{BB962C8B-B14F-4D97-AF65-F5344CB8AC3E}">
        <p14:creationId xmlns:p14="http://schemas.microsoft.com/office/powerpoint/2010/main" val="1763028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r>
              <a:rPr lang="en-US" sz="2800" b="1" dirty="0"/>
              <a:t>K-Means Clustering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969338"/>
            <a:ext cx="8137674" cy="5608481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/>
              <a:t>Algorithm Steps:</a:t>
            </a:r>
          </a:p>
          <a:p>
            <a:pPr lvl="1" algn="just"/>
            <a:r>
              <a:rPr lang="en-US" sz="1800" dirty="0"/>
              <a:t>Select the number of clusters </a:t>
            </a:r>
            <a:r>
              <a:rPr lang="en-US" sz="1800" b="1" dirty="0"/>
              <a:t>K</a:t>
            </a:r>
            <a:r>
              <a:rPr lang="en-US" sz="1800" dirty="0"/>
              <a:t>.</a:t>
            </a:r>
          </a:p>
          <a:p>
            <a:pPr lvl="1" algn="just"/>
            <a:r>
              <a:rPr lang="en-US" sz="1800" dirty="0"/>
              <a:t>Randomly initialize </a:t>
            </a:r>
            <a:r>
              <a:rPr lang="en-US" sz="1800" b="1" dirty="0"/>
              <a:t>K</a:t>
            </a:r>
            <a:r>
              <a:rPr lang="en-US" sz="1800" dirty="0"/>
              <a:t> cluster centroids.</a:t>
            </a:r>
          </a:p>
          <a:p>
            <a:pPr lvl="1" algn="just"/>
            <a:r>
              <a:rPr lang="en-US" sz="1800" dirty="0"/>
              <a:t>Repeat until convergence:</a:t>
            </a:r>
          </a:p>
          <a:p>
            <a:pPr lvl="2" algn="just"/>
            <a:r>
              <a:rPr lang="en-US" sz="1800" dirty="0"/>
              <a:t>Assign each data point to the nearest centroid.</a:t>
            </a:r>
          </a:p>
          <a:p>
            <a:pPr lvl="2" algn="just"/>
            <a:r>
              <a:rPr lang="en-US" sz="1800" dirty="0"/>
              <a:t>Update centroids by computing the mean of all assigned points.</a:t>
            </a:r>
          </a:p>
          <a:p>
            <a:r>
              <a:rPr lang="en-US" sz="2000" b="1" dirty="0"/>
              <a:t>Optimization Objective</a:t>
            </a:r>
          </a:p>
          <a:p>
            <a:pPr lvl="1"/>
            <a:r>
              <a:rPr lang="en-US" sz="1800" dirty="0"/>
              <a:t>Minimize the sum of squared distances between data points and their assigned cluster centroid:</a:t>
            </a:r>
          </a:p>
          <a:p>
            <a:pPr marL="1097280" lvl="4" indent="0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1600" dirty="0"/>
              <a:t>	J =  </a:t>
            </a:r>
          </a:p>
          <a:p>
            <a:pPr lvl="1"/>
            <a:r>
              <a:rPr lang="en-US" sz="1800" dirty="0"/>
              <a:t> where           is the centroid of cluster         to which point      belongs.</a:t>
            </a:r>
          </a:p>
          <a:p>
            <a:r>
              <a:rPr lang="en-US" sz="2000" b="1" dirty="0"/>
              <a:t>Other Clustering Techniques</a:t>
            </a:r>
          </a:p>
          <a:p>
            <a:pPr lvl="1"/>
            <a:r>
              <a:rPr lang="en-US" sz="1800" b="1" dirty="0"/>
              <a:t>Hierarchical Clustering</a:t>
            </a:r>
            <a:r>
              <a:rPr lang="en-US" sz="1800" dirty="0"/>
              <a:t>: Builds a hierarchy of clusters.</a:t>
            </a:r>
          </a:p>
          <a:p>
            <a:pPr lvl="1"/>
            <a:r>
              <a:rPr lang="en-US" sz="1800" b="1" dirty="0"/>
              <a:t>DBSCAN</a:t>
            </a:r>
            <a:r>
              <a:rPr lang="en-US" sz="1800" dirty="0"/>
              <a:t>: Detects clusters based on density.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883" y="4521184"/>
            <a:ext cx="470433" cy="19370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22" t="2573" r="-1864" b="-22154"/>
          <a:stretch/>
        </p:blipFill>
        <p:spPr>
          <a:xfrm>
            <a:off x="2905957" y="3981277"/>
            <a:ext cx="1638299" cy="55847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6998" y="4407418"/>
            <a:ext cx="397049" cy="29294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903" y="4454909"/>
            <a:ext cx="311492" cy="20484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57732" y="20228"/>
            <a:ext cx="5135108" cy="217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652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sz="3200" b="1" dirty="0"/>
              <a:t>Dimensionality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3" y="969338"/>
            <a:ext cx="7025311" cy="5619998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Reduces the number of features in data while preserving meaningful information.</a:t>
            </a:r>
          </a:p>
          <a:p>
            <a:pPr>
              <a:spcBef>
                <a:spcPts val="200"/>
              </a:spcBef>
            </a:pPr>
            <a:r>
              <a:rPr lang="en-US" sz="1600" dirty="0"/>
              <a:t>Used for visualization, noise reduction, and improving ML efficiency.</a:t>
            </a:r>
          </a:p>
          <a:p>
            <a:pPr marL="0" indent="0" algn="just">
              <a:buNone/>
            </a:pPr>
            <a:r>
              <a:rPr lang="en-US" sz="2000" b="1" dirty="0"/>
              <a:t>Principal Component Analysis (PCA)</a:t>
            </a:r>
          </a:p>
          <a:p>
            <a:pPr algn="just">
              <a:spcBef>
                <a:spcPts val="300"/>
              </a:spcBef>
            </a:pPr>
            <a:r>
              <a:rPr lang="en-US" sz="1600" b="1" dirty="0"/>
              <a:t>Concept</a:t>
            </a:r>
          </a:p>
          <a:p>
            <a:pPr lvl="1" algn="just"/>
            <a:r>
              <a:rPr lang="en-US" dirty="0"/>
              <a:t>Projects data onto a lower-dimensional space using eigenvectors of the covariance matrix.</a:t>
            </a:r>
          </a:p>
          <a:p>
            <a:pPr lvl="1" algn="just"/>
            <a:r>
              <a:rPr lang="en-US" dirty="0"/>
              <a:t>Finds the directions (principal components) that maximize variance.</a:t>
            </a:r>
          </a:p>
          <a:p>
            <a:pPr algn="just">
              <a:spcBef>
                <a:spcPts val="300"/>
              </a:spcBef>
            </a:pPr>
            <a:r>
              <a:rPr lang="en-US" sz="1600" b="1" dirty="0"/>
              <a:t>Algorithm Steps</a:t>
            </a:r>
          </a:p>
          <a:p>
            <a:pPr lvl="1" algn="just"/>
            <a:r>
              <a:rPr lang="en-US" dirty="0"/>
              <a:t>Normalize data (zero mean and unit variance).</a:t>
            </a:r>
          </a:p>
          <a:p>
            <a:pPr lvl="1" algn="just"/>
            <a:r>
              <a:rPr lang="en-US" dirty="0"/>
              <a:t>Compute the covariance matrix.</a:t>
            </a:r>
          </a:p>
          <a:p>
            <a:pPr lvl="1" algn="just"/>
            <a:r>
              <a:rPr lang="en-US" dirty="0"/>
              <a:t>Compute eigenvalues and eigenvectors.</a:t>
            </a:r>
          </a:p>
          <a:p>
            <a:pPr lvl="1" algn="just"/>
            <a:r>
              <a:rPr lang="en-US" dirty="0"/>
              <a:t>Select top </a:t>
            </a:r>
            <a:r>
              <a:rPr lang="en-US" b="1" dirty="0"/>
              <a:t>K</a:t>
            </a:r>
            <a:r>
              <a:rPr lang="en-US" dirty="0"/>
              <a:t> eigenvectors to reduce dimensions.</a:t>
            </a:r>
          </a:p>
          <a:p>
            <a:pPr lvl="1" algn="just"/>
            <a:r>
              <a:rPr lang="en-US" dirty="0"/>
              <a:t>Transform data using the selected eigenvectors.</a:t>
            </a:r>
          </a:p>
          <a:p>
            <a:pPr algn="just">
              <a:spcBef>
                <a:spcPts val="300"/>
              </a:spcBef>
            </a:pPr>
            <a:r>
              <a:rPr lang="en-US" sz="1600" b="1" dirty="0"/>
              <a:t>Applications</a:t>
            </a:r>
          </a:p>
          <a:p>
            <a:pPr lvl="1" algn="just"/>
            <a:r>
              <a:rPr lang="en-US" dirty="0"/>
              <a:t>Face recognition</a:t>
            </a:r>
          </a:p>
          <a:p>
            <a:pPr lvl="1" algn="just"/>
            <a:r>
              <a:rPr lang="en-US" dirty="0"/>
              <a:t>Feature extraction in ML models</a:t>
            </a:r>
          </a:p>
          <a:p>
            <a:pPr lvl="1" algn="just"/>
            <a:r>
              <a:rPr lang="en-US" dirty="0"/>
              <a:t>Noise filtering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429" y="52880"/>
            <a:ext cx="2819204" cy="2794689"/>
          </a:xfrm>
          <a:prstGeom prst="rect">
            <a:avLst/>
          </a:prstGeom>
        </p:spPr>
      </p:pic>
      <p:pic>
        <p:nvPicPr>
          <p:cNvPr id="3074" name="Picture 2" descr="What is Dimensionality Reduction? A Guide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305" y="4817098"/>
            <a:ext cx="5446812" cy="199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5"/>
          <a:srcRect l="4588" t="4907" r="4088" b="26816"/>
          <a:stretch/>
        </p:blipFill>
        <p:spPr>
          <a:xfrm>
            <a:off x="8541711" y="2879288"/>
            <a:ext cx="2544211" cy="1902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98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marL="514350" indent="-514350">
              <a:lnSpc>
                <a:spcPts val="7893"/>
              </a:lnSpc>
              <a:buFont typeface="+mj-lt"/>
              <a:buAutoNum type="arabicPeriod" startAt="3"/>
            </a:pPr>
            <a:r>
              <a:rPr lang="en-US" sz="3200" b="1" dirty="0"/>
              <a:t>Anomaly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43850" y="5637193"/>
            <a:ext cx="419100" cy="240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1157444"/>
            <a:ext cx="5899696" cy="4875710"/>
          </a:xfrm>
        </p:spPr>
        <p:txBody>
          <a:bodyPr>
            <a:noAutofit/>
          </a:bodyPr>
          <a:lstStyle/>
          <a:p>
            <a:pPr algn="just">
              <a:spcBef>
                <a:spcPts val="500"/>
              </a:spcBef>
            </a:pPr>
            <a:r>
              <a:rPr lang="en-US" dirty="0"/>
              <a:t>Identifying data points that deviate significantly from the norm.</a:t>
            </a:r>
          </a:p>
          <a:p>
            <a:pPr algn="just">
              <a:spcBef>
                <a:spcPts val="500"/>
              </a:spcBef>
            </a:pPr>
            <a:r>
              <a:rPr lang="en-US" dirty="0"/>
              <a:t>Used in fraud detection, cybersecurity, and predictive maintenance.</a:t>
            </a:r>
          </a:p>
          <a:p>
            <a:pPr marL="0" indent="0" algn="just">
              <a:buNone/>
            </a:pPr>
            <a:r>
              <a:rPr lang="en-US" sz="2400" b="1" dirty="0"/>
              <a:t>Example: </a:t>
            </a:r>
          </a:p>
          <a:p>
            <a:pPr lvl="1" algn="just"/>
            <a:r>
              <a:rPr lang="en-US" sz="2000" b="1" dirty="0"/>
              <a:t>Fraud Detection</a:t>
            </a:r>
          </a:p>
          <a:p>
            <a:pPr lvl="2" algn="just"/>
            <a:r>
              <a:rPr lang="en-US" sz="1600" dirty="0"/>
              <a:t>Features of a user’s transactions are monitored.</a:t>
            </a:r>
          </a:p>
          <a:p>
            <a:pPr lvl="2" algn="just"/>
            <a:r>
              <a:rPr lang="en-US" sz="1600" dirty="0"/>
              <a:t>If a transaction deviates significantly from past behavior, it is flagged as fraudulent.</a:t>
            </a:r>
          </a:p>
          <a:p>
            <a:pPr algn="just"/>
            <a:r>
              <a:rPr lang="en-US" sz="2400" b="1" dirty="0"/>
              <a:t>Anomaly Detection Algorithm</a:t>
            </a:r>
          </a:p>
          <a:p>
            <a:pPr lvl="1" algn="just"/>
            <a:r>
              <a:rPr lang="en-US" dirty="0"/>
              <a:t>The machine learning model for anomaly detection is </a:t>
            </a:r>
            <a:r>
              <a:rPr lang="en-US" b="1" dirty="0"/>
              <a:t>Gaussian Mixture Models (GMM)</a:t>
            </a:r>
            <a:r>
              <a:rPr lang="en-US" dirty="0"/>
              <a:t>, which estimates the probability distribution of the data and detects anomalies as low-probability points. Another model used is </a:t>
            </a:r>
            <a:r>
              <a:rPr lang="en-US" b="1" dirty="0" err="1"/>
              <a:t>Autoencoders</a:t>
            </a:r>
            <a:r>
              <a:rPr lang="en-US" dirty="0"/>
              <a:t>, which reconstruct normal data patterns and flag deviations as anomalies.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12</a:t>
            </a:fld>
            <a:endParaRPr lang="en-US"/>
          </a:p>
        </p:txBody>
      </p:sp>
      <p:pic>
        <p:nvPicPr>
          <p:cNvPr id="2050" name="Picture 2" descr="Anomaly detection for cyber security via machine learn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670" y="84836"/>
            <a:ext cx="4749088" cy="3548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250" y="4515439"/>
            <a:ext cx="4663507" cy="225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169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974" y="343055"/>
            <a:ext cx="9994753" cy="626283"/>
          </a:xfrm>
        </p:spPr>
        <p:txBody>
          <a:bodyPr>
            <a:noAutofit/>
          </a:bodyPr>
          <a:lstStyle/>
          <a:p>
            <a:pPr marL="514350" indent="-514350">
              <a:lnSpc>
                <a:spcPts val="7893"/>
              </a:lnSpc>
              <a:buFont typeface="+mj-lt"/>
              <a:buAutoNum type="arabicPeriod" startAt="4"/>
            </a:pPr>
            <a:r>
              <a:rPr lang="en-US" sz="3200" b="1" dirty="0"/>
              <a:t>Recommender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1051" y="4010166"/>
            <a:ext cx="215019" cy="2854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600974" y="734116"/>
            <a:ext cx="6104626" cy="6031808"/>
          </a:xfrm>
        </p:spPr>
        <p:txBody>
          <a:bodyPr>
            <a:noAutofit/>
          </a:bodyPr>
          <a:lstStyle/>
          <a:p>
            <a:pPr algn="just">
              <a:spcBef>
                <a:spcPts val="500"/>
              </a:spcBef>
            </a:pPr>
            <a:r>
              <a:rPr lang="en-US" dirty="0"/>
              <a:t>Suggests items to users based on past behavior or similarities.</a:t>
            </a:r>
          </a:p>
          <a:p>
            <a:pPr algn="just">
              <a:spcBef>
                <a:spcPts val="500"/>
              </a:spcBef>
            </a:pPr>
            <a:r>
              <a:rPr lang="en-US" dirty="0"/>
              <a:t>Used in e-commerce, streaming services, and online learning platforms.</a:t>
            </a:r>
          </a:p>
          <a:p>
            <a:pPr algn="just"/>
            <a:r>
              <a:rPr lang="en-US" sz="2400" b="1" dirty="0"/>
              <a:t>Types of Recommender Systems</a:t>
            </a:r>
          </a:p>
          <a:p>
            <a:pPr lvl="1" algn="just"/>
            <a:r>
              <a:rPr lang="en-US" b="1" dirty="0"/>
              <a:t>Collaborative Filtering</a:t>
            </a:r>
            <a:r>
              <a:rPr lang="en-US" dirty="0"/>
              <a:t>: Uses similarities between users or items.</a:t>
            </a:r>
          </a:p>
          <a:p>
            <a:pPr lvl="1" algn="just"/>
            <a:r>
              <a:rPr lang="en-US" b="1" dirty="0"/>
              <a:t>Content-Based Filtering</a:t>
            </a:r>
            <a:r>
              <a:rPr lang="en-US" dirty="0"/>
              <a:t>: Uses item features and user preferences.</a:t>
            </a:r>
          </a:p>
          <a:p>
            <a:pPr algn="just"/>
            <a:r>
              <a:rPr lang="en-US" sz="2400" b="1" dirty="0"/>
              <a:t>Example: Movie Recommendation</a:t>
            </a:r>
          </a:p>
          <a:p>
            <a:pPr lvl="1" algn="just"/>
            <a:r>
              <a:rPr lang="en-US" dirty="0"/>
              <a:t>Users rate movies (implicit or explicit feedback).</a:t>
            </a:r>
          </a:p>
          <a:p>
            <a:pPr lvl="1" algn="just"/>
            <a:r>
              <a:rPr lang="en-US" dirty="0"/>
              <a:t>Identify users with similar interests.</a:t>
            </a:r>
          </a:p>
          <a:p>
            <a:pPr lvl="1" algn="just"/>
            <a:r>
              <a:rPr lang="en-US" dirty="0"/>
              <a:t>Recommend movies based on preferences of similar users.</a:t>
            </a:r>
          </a:p>
          <a:p>
            <a:pPr algn="just"/>
            <a:r>
              <a:rPr lang="en-US" sz="1600" dirty="0"/>
              <a:t>The </a:t>
            </a:r>
            <a:r>
              <a:rPr lang="en-US" sz="1600" b="1" dirty="0"/>
              <a:t>machine learning algorithm</a:t>
            </a:r>
            <a:r>
              <a:rPr lang="en-US" sz="1600" dirty="0"/>
              <a:t> for recommender systems is </a:t>
            </a:r>
            <a:r>
              <a:rPr lang="en-US" sz="1600" b="1" dirty="0"/>
              <a:t>Matrix Factorization</a:t>
            </a:r>
            <a:r>
              <a:rPr lang="en-US" sz="1600" dirty="0"/>
              <a:t>, such as </a:t>
            </a:r>
            <a:r>
              <a:rPr lang="en-US" sz="1600" b="1" dirty="0"/>
              <a:t>Singular Value Decomposition (SVD)</a:t>
            </a:r>
            <a:r>
              <a:rPr lang="en-US" sz="1600" dirty="0"/>
              <a:t>, which decomposes user-item interaction matrices to find latent factors. Another common </a:t>
            </a:r>
            <a:r>
              <a:rPr lang="en-US" sz="1600" b="1" dirty="0"/>
              <a:t>algorithm</a:t>
            </a:r>
            <a:r>
              <a:rPr lang="en-US" sz="1600" dirty="0"/>
              <a:t> is </a:t>
            </a:r>
            <a:r>
              <a:rPr lang="en-US" sz="1600" b="1" dirty="0"/>
              <a:t>Collaborative Filtering</a:t>
            </a:r>
            <a:r>
              <a:rPr lang="en-US" sz="1600" dirty="0"/>
              <a:t>, which predicts user preferences based on similarities with other users.</a:t>
            </a:r>
          </a:p>
          <a:p>
            <a:pPr algn="just"/>
            <a:endParaRPr lang="en-US" dirty="0"/>
          </a:p>
          <a:p>
            <a:pPr algn="just">
              <a:spcBef>
                <a:spcPts val="700"/>
              </a:spcBef>
            </a:pP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2652" y="107071"/>
            <a:ext cx="4021587" cy="39030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4096375"/>
            <a:ext cx="4576370" cy="266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69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lnSpcReduction="10000"/>
          </a:bodyPr>
          <a:lstStyle/>
          <a:p>
            <a:fld id="{7861E9F1-9214-4563-ABFC-1D940E589AF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5415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(x^{(1)},y^{(1)}), (x^{(2)}, y^{(2)}), (x^{(3)}, y^{(3)}), \dots , (x^{(m)}, y^{(m)})\}&#10;$&#10;&#10;\end{document}"/>
  <p:tag name="IGUANATEXSIZE" val="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1&#10;$&#10;&#10;\end{document}"/>
  <p:tag name="IGUANATEXSIZE" val="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x_2&#10;$&#10;&#10;\end{document}"/>
  <p:tag name="IGUANATEXSIZE" val="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pagestyle{empty}&#10;\begin{document}&#10;&#10;&#10;$&#10;\{x^{(1)}, x^{(2)}, x^{(3)}, \dots, x^{(m)} \}&#10;$&#10;&#10;\end{document}"/>
  <p:tag name="IGUANATEXSIZE" val="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\mu_{c^{(i)}}&#10;$&#10;&#10;\end{document}"/>
  <p:tag name="IGUANATEXSIZE" val="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\displaystyle&#10;J(c^{(1)}, \dots, c^{(m)}, \mu_1, \dots, \mu_K) &#10;= \frac{1}{m} &#10;\sum^m_{i=1} &#10;|| x^{(i)} - \mu_{c^{(i)}} ||^2&#10;$&#10;&#10;\end{document}"/>
  <p:tag name="IGUANATEXSIZE" val="2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c^{(i)}&#10;$&#10;&#10;\end{document}"/>
  <p:tag name="IGUANATEXSIZE" val="2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TEXADDIN" val="\documentclass{article}&#10;\usepackage{amsmath}&#10;\usepackage{amssymb}&#10;\pagestyle{empty}&#10;\begin{document}&#10;&#10;&#10;$&#10;x^{(i)}&#10;$&#10;&#10;\end{document}"/>
  <p:tag name="IGUANATEXSIZE" val="24"/>
</p:tagLst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9477</TotalTime>
  <Words>1375</Words>
  <Application>Microsoft Office PowerPoint</Application>
  <PresentationFormat>Widescreen</PresentationFormat>
  <Paragraphs>170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Century Schoolbook</vt:lpstr>
      <vt:lpstr>Times New Roman</vt:lpstr>
      <vt:lpstr>Wingdings</vt:lpstr>
      <vt:lpstr>Wingdings 2</vt:lpstr>
      <vt:lpstr>View</vt:lpstr>
      <vt:lpstr>PowerPoint Presentation</vt:lpstr>
      <vt:lpstr>PowerPoint Presentation</vt:lpstr>
      <vt:lpstr>Introduction To Machine Learning</vt:lpstr>
      <vt:lpstr>PowerPoint Presentation</vt:lpstr>
      <vt:lpstr>PowerPoint Presentation</vt:lpstr>
      <vt:lpstr>PowerPoint Presentation</vt:lpstr>
      <vt:lpstr>PowerPoint Presentation</vt:lpstr>
      <vt:lpstr>Key Techniques of Unsupervised Learning</vt:lpstr>
      <vt:lpstr>Clustering</vt:lpstr>
      <vt:lpstr>K-Means Clustering</vt:lpstr>
      <vt:lpstr>Dimensionality Reduction</vt:lpstr>
      <vt:lpstr>Anomaly Detection</vt:lpstr>
      <vt:lpstr>Recommender Systems</vt:lpstr>
      <vt:lpstr>Thank You</vt:lpstr>
    </vt:vector>
  </TitlesOfParts>
  <Company>Islamia College Peshawar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Imran Nawar</dc:creator>
  <cp:keywords>DIP Lab ICP</cp:keywords>
  <cp:lastModifiedBy>Dr.Muhammad Sajjad</cp:lastModifiedBy>
  <cp:revision>458</cp:revision>
  <dcterms:created xsi:type="dcterms:W3CDTF">2015-12-26T11:48:24Z</dcterms:created>
  <dcterms:modified xsi:type="dcterms:W3CDTF">2025-09-26T14:08:04Z</dcterms:modified>
</cp:coreProperties>
</file>